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4C130-AAB8-B5DE-6EE8-60DA667723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02A8A9-5598-898F-0C2C-CB7069C110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238346-23C8-F366-69E1-4BF613974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19E8A-42FE-C444-B7BB-2BADF689F260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0FFB06-2ECF-1FEA-818C-2FC00941E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B2248-1079-7E4A-2D4E-EC4A6627CD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F77C8-55F2-1045-9A6F-E2D9E3323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25930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579DE7-8B67-BC0C-F32F-7E80543A2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B4434C-5E50-37F4-46ED-EA08C949E9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92269D-0C63-EAC4-C6D7-21246AB6B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19E8A-42FE-C444-B7BB-2BADF689F260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6917DB-6AFC-B03C-F030-8EF6FABBE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9C4A3C-0825-500B-7DEB-E611A20EB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F77C8-55F2-1045-9A6F-E2D9E3323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4563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F81BF-1B99-FFC4-9810-0724A54505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BA4AED-C2FD-B1D5-3ABF-A7BE2A85CA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8FB9DC-DA51-5083-2D26-4A525DE48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19E8A-42FE-C444-B7BB-2BADF689F260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6A01B5-7EC4-9E62-EF3A-DE993A2D3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1AFC0F-A724-42C5-DFA1-7A382725A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F77C8-55F2-1045-9A6F-E2D9E3323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4168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7D775E-B139-36DB-D6C2-D35DA66132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5053C8-1AC1-6226-AB5B-DB48F58BECD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F1FD89-4698-2F74-4783-0858EA1661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379CD0-86EB-CF46-EB44-5D7E82F65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19E8A-42FE-C444-B7BB-2BADF689F260}" type="datetimeFigureOut">
              <a:rPr lang="en-US" smtClean="0"/>
              <a:t>3/28/26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E1A115D-1370-E7CC-06D8-8A52FCB964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6A5C17-5D71-8F46-4792-B64DE94C8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F77C8-55F2-1045-9A6F-E2D9E3323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69099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CADDE-5790-4E0F-4D7A-41719CEF67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3E6555-0CC5-AEC8-5404-485269D96F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9A54B9-A293-F0C4-1EDA-45B222AE01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FC86D35-0D65-CFFB-4A20-4868E6F2D0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D3CF01C-770F-2E44-2327-47D1E14933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20B7AF0-6ADB-3FB3-6AAF-D2DA3ADA1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19E8A-42FE-C444-B7BB-2BADF689F260}" type="datetimeFigureOut">
              <a:rPr lang="en-US" smtClean="0"/>
              <a:t>3/28/26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3C37B6-DDE6-FA3C-0B4C-93DF96354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E566E3-2686-F7F4-D2F0-6C6901801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F77C8-55F2-1045-9A6F-E2D9E3323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79387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5C881B-F4FD-A54D-F274-1BD74E4A2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792E8B-AF11-ED9F-3F39-F505F9B17D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19E8A-42FE-C444-B7BB-2BADF689F260}" type="datetimeFigureOut">
              <a:rPr lang="en-US" smtClean="0"/>
              <a:t>3/28/26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0DC7B8-2A99-2DEB-40C0-4F57E0864A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95CA6F-150F-EA68-D691-02250672C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F77C8-55F2-1045-9A6F-E2D9E3323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664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FE7CA6-F9C8-7978-18EA-96C19059E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19E8A-42FE-C444-B7BB-2BADF689F260}" type="datetimeFigureOut">
              <a:rPr lang="en-US" smtClean="0"/>
              <a:t>3/28/26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725248-236F-18C0-5580-83C6839CBD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0E11DE-6218-FE57-4B4C-C540680FBC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F77C8-55F2-1045-9A6F-E2D9E3323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356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1993F6-5A37-30DC-FF1C-FEACDFCBC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4D8953-B4E7-A02B-8115-12DC9578F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67B541-64AD-8D5E-55F9-E58DCC1860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27C8311-545C-BAD0-48B4-26D05574F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19E8A-42FE-C444-B7BB-2BADF689F260}" type="datetimeFigureOut">
              <a:rPr lang="en-US" smtClean="0"/>
              <a:t>3/28/26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F9424F-1226-807C-BB87-77A03A3C5B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EDB2C0-3680-2DEB-DC32-18AF78C33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F77C8-55F2-1045-9A6F-E2D9E3323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8569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16EF74-8B81-9266-E440-BED2484C6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1EC96D-1053-1826-68E9-101D7A856A5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D5A6F8-4C01-8B38-944F-B406B5A41D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12BC3E-E533-8BAF-6110-A05CA9C29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19E8A-42FE-C444-B7BB-2BADF689F260}" type="datetimeFigureOut">
              <a:rPr lang="en-US" smtClean="0"/>
              <a:t>3/28/26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BCABF8-7173-0CBA-A5AA-2646633CB0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ABBCEE-C8D0-6020-0D06-167548047B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F77C8-55F2-1045-9A6F-E2D9E3323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567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8827F-4AFA-03F5-4229-E1682FF639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B837E4-42F3-C2AE-CDA4-305F79E5DA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FCE343-4BB5-8259-A1E3-E02396E56D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19E8A-42FE-C444-B7BB-2BADF689F260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8B289-E863-25D0-DF04-5063E17FC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E17076-AA19-06B8-7753-7350DF65D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F77C8-55F2-1045-9A6F-E2D9E3323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619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E0DBE0-FFC8-5CC2-951E-194CF16EF7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FB012B-E9F0-8D78-A308-F753845358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5657DC-8AE0-8DE0-9890-15E1F15EF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19E8A-42FE-C444-B7BB-2BADF689F260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AD232D-E56C-A9F8-9601-B15109DC7F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78B69-6677-CE5B-B852-337CB61D8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3F77C8-55F2-1045-9A6F-E2D9E3323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8334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A71F61D-0375-5B19-B61B-F9029A8E6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E90437-19A9-FBF9-FE85-4605A3C3D3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4D5A2C-EE24-F971-45F1-64E56931D6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A19E8A-42FE-C444-B7BB-2BADF689F260}" type="datetimeFigureOut">
              <a:rPr lang="en-US" smtClean="0"/>
              <a:t>3/28/26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9531E5-45E2-26B8-AEE7-A41FEBC007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CFDD9E-512A-61C6-0186-D18EF81864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3F77C8-55F2-1045-9A6F-E2D9E33235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565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1A43A-DD04-6D2C-1F0B-42E7F6334CA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# The Brain of a </a:t>
            </a:r>
            <a:r>
              <a:rPr lang="en-US" b="1" dirty="0" err="1"/>
              <a:t>Gomoku</a:t>
            </a:r>
            <a:r>
              <a:rPr lang="en-US" b="1" dirty="0"/>
              <a:t> Gargoyles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b="1" dirty="0"/>
              <a:t>The Brain of the </a:t>
            </a:r>
            <a:br>
              <a:rPr lang="en-US" b="1" dirty="0"/>
            </a:br>
            <a:r>
              <a:rPr lang="en-US" b="1" dirty="0" err="1"/>
              <a:t>Gomoku</a:t>
            </a:r>
            <a:r>
              <a:rPr lang="en-US" b="1" dirty="0"/>
              <a:t> Gargoyles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394051-EF91-72B2-A4E3-EDA5F790EBB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3600" b="1" dirty="0"/>
              <a:t>How AI Gargoyles master the 19x19 grid using logic, speed, and intuition</a:t>
            </a:r>
            <a:endParaRPr lang="en-US" sz="3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5848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5E7330-24FF-5769-DB7C-C631DB8B5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The Challenge of the 19x19 Grid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273233-24A8-9E6B-A6D3-E5C80DF99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**The Problem:**</a:t>
            </a:r>
            <a:r>
              <a:rPr lang="en-US" dirty="0"/>
              <a:t> </a:t>
            </a:r>
          </a:p>
          <a:p>
            <a:r>
              <a:rPr lang="en-US" dirty="0"/>
              <a:t>A 19x19 board has 361 intersections. </a:t>
            </a:r>
          </a:p>
          <a:p>
            <a:r>
              <a:rPr lang="en-US" dirty="0"/>
              <a:t>The number of possible move sequences is larger than the number of atoms in the universe. A standard "check everything" approach will crash the computer.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662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">
            <a:extLst>
              <a:ext uri="{FF2B5EF4-FFF2-40B4-BE49-F238E27FC236}">
                <a16:creationId xmlns:a16="http://schemas.microsoft.com/office/drawing/2014/main" id="{B7A99B25-C819-5962-FF39-ADCBBCFA52E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14916" y="719806"/>
            <a:ext cx="10769487" cy="4308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Solution: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We need a filter, a radar, and a gut feeling.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Components: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Minimax: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Strategy.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Alpha-Beta: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Shortcut.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Patterns: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Intuition.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Threat Search: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Panic Button.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5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Selective Search: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Focus.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122183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FC6F6-FEAF-593D-79C3-A7713C96C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Minimax &amp; Alpha-Beta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3F10DA-9A44-FCC0-6FE9-0EAB6DB9BA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"The Visionary &amp; The Cynic"</a:t>
            </a:r>
            <a:endParaRPr lang="en-US" dirty="0"/>
          </a:p>
          <a:p>
            <a:r>
              <a:rPr lang="en-US" b="1" dirty="0"/>
              <a:t>Minimax:</a:t>
            </a:r>
            <a:r>
              <a:rPr lang="en-US" dirty="0"/>
              <a:t> The AI plays a mental game of "What If?" It assumes the opponent is perfect.</a:t>
            </a:r>
          </a:p>
          <a:p>
            <a:pPr lvl="1"/>
            <a:r>
              <a:rPr lang="en-US" i="1" dirty="0"/>
              <a:t>Goal:</a:t>
            </a:r>
            <a:r>
              <a:rPr lang="en-US" dirty="0"/>
              <a:t> Pick the move where the "worst-case scenario" is still a win.</a:t>
            </a:r>
          </a:p>
          <a:p>
            <a:r>
              <a:rPr lang="en-US" b="1" dirty="0"/>
              <a:t>Alpha-Beta Pruning:</a:t>
            </a:r>
            <a:r>
              <a:rPr lang="en-US" dirty="0"/>
              <a:t> The AI’s "B.S. Filter."</a:t>
            </a:r>
          </a:p>
          <a:p>
            <a:pPr lvl="1"/>
            <a:r>
              <a:rPr lang="en-US" b="1" dirty="0"/>
              <a:t>Metaphor:</a:t>
            </a:r>
            <a:r>
              <a:rPr lang="en-US" dirty="0"/>
              <a:t> If you're looking for the best restaurant and the first dish at "Place A" is literal garbage, you don't need to read the rest of the menu. You just leave.</a:t>
            </a:r>
          </a:p>
          <a:p>
            <a:pPr lvl="1"/>
            <a:r>
              <a:rPr lang="en-US" b="1" dirty="0"/>
              <a:t>In </a:t>
            </a:r>
            <a:r>
              <a:rPr lang="en-US" b="1" dirty="0" err="1"/>
              <a:t>Gomoku</a:t>
            </a:r>
            <a:r>
              <a:rPr lang="en-US" b="1" dirty="0"/>
              <a:t>:</a:t>
            </a:r>
            <a:r>
              <a:rPr lang="en-US" dirty="0"/>
              <a:t> If a move leads to a losing board, Alpha-Beta stops the AI from wasting time calculating that branch further.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4447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DF47A-94BD-2981-6E45-BC86C516E7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Pattern-Based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E6D9D-8F0C-8DAE-910E-3A90D43124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"The Master’s Eyes"</a:t>
            </a:r>
            <a:endParaRPr lang="en-US" dirty="0"/>
          </a:p>
          <a:p>
            <a:r>
              <a:rPr lang="en-US" b="1" dirty="0"/>
              <a:t>The Concept:</a:t>
            </a:r>
            <a:r>
              <a:rPr lang="en-US" dirty="0"/>
              <a:t> Computers usually just see numbers. We teach them to see </a:t>
            </a:r>
            <a:r>
              <a:rPr lang="en-US" b="1" dirty="0"/>
              <a:t>Shapes</a:t>
            </a:r>
            <a:r>
              <a:rPr lang="en-US" dirty="0"/>
              <a:t>.</a:t>
            </a:r>
          </a:p>
          <a:p>
            <a:r>
              <a:rPr lang="en-US" b="1" dirty="0"/>
              <a:t>How it Works:</a:t>
            </a:r>
            <a:r>
              <a:rPr lang="en-US" dirty="0"/>
              <a:t> The AI scans for "High-Value Shapes":</a:t>
            </a:r>
          </a:p>
          <a:p>
            <a:pPr lvl="1"/>
            <a:r>
              <a:rPr lang="en-US" b="1" dirty="0"/>
              <a:t>Live Three ( - o o o - ):</a:t>
            </a:r>
            <a:r>
              <a:rPr lang="en-US" dirty="0"/>
              <a:t> Extreme danger!</a:t>
            </a:r>
          </a:p>
          <a:p>
            <a:pPr lvl="1"/>
            <a:r>
              <a:rPr lang="en-US" b="1" dirty="0"/>
              <a:t>Broken Four ( o - o o o ):</a:t>
            </a:r>
            <a:r>
              <a:rPr lang="en-US" dirty="0"/>
              <a:t> One step from winning.</a:t>
            </a:r>
          </a:p>
          <a:p>
            <a:r>
              <a:rPr lang="en-US" b="1" dirty="0"/>
              <a:t>The Metaphor:</a:t>
            </a:r>
            <a:r>
              <a:rPr lang="en-US" dirty="0"/>
              <a:t> A beginner counts stones; a master sees a "constellation" of victory. This is the AI's "Gut Feeling" that tells it if a position is good without having to calculate to the end of the game.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39013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FB3DFC-97A2-26CF-3ADD-C10A190F5E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Threat Space Search (TSS)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54D172-3E7C-D8E7-32C0-CC09B3529C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"The Sniper Detection System"</a:t>
            </a:r>
            <a:endParaRPr lang="en-US" dirty="0"/>
          </a:p>
          <a:p>
            <a:r>
              <a:rPr lang="en-US" b="1" dirty="0"/>
              <a:t>The Concept:</a:t>
            </a:r>
            <a:r>
              <a:rPr lang="en-US" dirty="0"/>
              <a:t> In </a:t>
            </a:r>
            <a:r>
              <a:rPr lang="en-US" dirty="0" err="1"/>
              <a:t>Gomoku</a:t>
            </a:r>
            <a:r>
              <a:rPr lang="en-US" dirty="0"/>
              <a:t>, you can lose in one second if you aren't paying attention.</a:t>
            </a:r>
          </a:p>
          <a:p>
            <a:r>
              <a:rPr lang="en-US" b="1" dirty="0"/>
              <a:t>The "Panic Button":</a:t>
            </a:r>
            <a:r>
              <a:rPr lang="en-US" dirty="0"/>
              <a:t> TSS ignores the whole board and asks one question: </a:t>
            </a:r>
            <a:r>
              <a:rPr lang="en-US" i="1" dirty="0"/>
              <a:t>"Is there a sequence of forced moves (fours or threes) that leads to a win or loss?"</a:t>
            </a:r>
            <a:endParaRPr lang="en-US" dirty="0"/>
          </a:p>
          <a:p>
            <a:r>
              <a:rPr lang="en-US" b="1" dirty="0"/>
              <a:t>The Metaphor:</a:t>
            </a:r>
            <a:r>
              <a:rPr lang="en-US" dirty="0"/>
              <a:t> While you’re planning your 20-year career (Minimax), TSS is the guy shouting, </a:t>
            </a:r>
            <a:r>
              <a:rPr lang="en-US" i="1" dirty="0"/>
              <a:t>"There is a bus heading straight for you right now!"</a:t>
            </a:r>
            <a:r>
              <a:rPr lang="en-US" dirty="0"/>
              <a:t> You stop planning and </a:t>
            </a:r>
            <a:r>
              <a:rPr lang="en-US" b="1" dirty="0"/>
              <a:t>jump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4969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22EF8-FAAA-72C4-D105-8407F0E229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Selective Minimax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FA296E-11AB-A5E2-0473-756CFA8AD7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"The Flashlight in the Dark"</a:t>
            </a:r>
            <a:endParaRPr lang="en-US" dirty="0"/>
          </a:p>
          <a:p>
            <a:r>
              <a:rPr lang="en-US" b="1" dirty="0"/>
              <a:t>The Concept:</a:t>
            </a:r>
            <a:r>
              <a:rPr lang="en-US" dirty="0"/>
              <a:t> Don't look where nothing is happening.</a:t>
            </a:r>
          </a:p>
          <a:p>
            <a:r>
              <a:rPr lang="en-US" b="1" dirty="0"/>
              <a:t>The Strategy:</a:t>
            </a:r>
            <a:r>
              <a:rPr lang="en-US" dirty="0"/>
              <a:t> The AI only calculates deep moves around the "Active Zone" (where stones are already placed).</a:t>
            </a:r>
          </a:p>
          <a:p>
            <a:r>
              <a:rPr lang="en-US" b="1" dirty="0"/>
              <a:t>The Metaphor:</a:t>
            </a:r>
            <a:r>
              <a:rPr lang="en-US" dirty="0"/>
              <a:t> If there is a fire in the kitchen, you don't go into the attic to check if the insulation is okay. You stay in the kitchen.</a:t>
            </a:r>
          </a:p>
          <a:p>
            <a:r>
              <a:rPr lang="en-US" b="1" dirty="0"/>
              <a:t>In </a:t>
            </a:r>
            <a:r>
              <a:rPr lang="en-US" b="1" dirty="0" err="1"/>
              <a:t>Gomoku</a:t>
            </a:r>
            <a:r>
              <a:rPr lang="en-US" b="1" dirty="0"/>
              <a:t>:</a:t>
            </a:r>
            <a:r>
              <a:rPr lang="en-US" dirty="0"/>
              <a:t> It ignores 90% of the 19x19 board to spend 100% of its brainpower on the 10% where the fight is.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3552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49248-EAED-10D7-EFF0-D98C6F34D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Grand Finale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32696F-A940-4D6D-5C0B-29C9A201EC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"Putting it all together"</a:t>
            </a:r>
            <a:endParaRPr lang="en-US" dirty="0"/>
          </a:p>
          <a:p>
            <a:r>
              <a:rPr lang="en-US" b="1" dirty="0"/>
              <a:t>Step 1:</a:t>
            </a:r>
            <a:r>
              <a:rPr lang="en-US" dirty="0"/>
              <a:t> </a:t>
            </a:r>
            <a:r>
              <a:rPr lang="en-US" b="1" dirty="0"/>
              <a:t>Selective Search</a:t>
            </a:r>
            <a:r>
              <a:rPr lang="en-US" dirty="0"/>
              <a:t> identifies the "War Zone."</a:t>
            </a:r>
          </a:p>
          <a:p>
            <a:r>
              <a:rPr lang="en-US" b="1" dirty="0"/>
              <a:t>Step 2:</a:t>
            </a:r>
            <a:r>
              <a:rPr lang="en-US" dirty="0"/>
              <a:t> </a:t>
            </a:r>
            <a:r>
              <a:rPr lang="en-US" b="1" dirty="0"/>
              <a:t>Threat Search</a:t>
            </a:r>
            <a:r>
              <a:rPr lang="en-US" dirty="0"/>
              <a:t> makes sure we aren't about to lose instantly.</a:t>
            </a:r>
          </a:p>
          <a:p>
            <a:r>
              <a:rPr lang="en-US" b="1" dirty="0"/>
              <a:t>Step 3:</a:t>
            </a:r>
            <a:r>
              <a:rPr lang="en-US" dirty="0"/>
              <a:t> </a:t>
            </a:r>
            <a:r>
              <a:rPr lang="en-US" b="1" dirty="0"/>
              <a:t>Minimax</a:t>
            </a:r>
            <a:r>
              <a:rPr lang="en-US" dirty="0"/>
              <a:t> plans the long-term trap.</a:t>
            </a:r>
          </a:p>
          <a:p>
            <a:r>
              <a:rPr lang="en-US" b="1" dirty="0"/>
              <a:t>Step 4:</a:t>
            </a:r>
            <a:r>
              <a:rPr lang="en-US" dirty="0"/>
              <a:t> </a:t>
            </a:r>
            <a:r>
              <a:rPr lang="en-US" b="1" dirty="0"/>
              <a:t>Alpha-Beta</a:t>
            </a:r>
            <a:r>
              <a:rPr lang="en-US" dirty="0"/>
              <a:t> keeps the engine running at 1000mph.</a:t>
            </a:r>
          </a:p>
          <a:p>
            <a:r>
              <a:rPr lang="en-US" b="1" dirty="0"/>
              <a:t>Step 5:</a:t>
            </a:r>
            <a:r>
              <a:rPr lang="en-US" dirty="0"/>
              <a:t> </a:t>
            </a:r>
            <a:r>
              <a:rPr lang="en-US" b="1" dirty="0"/>
              <a:t>Pattern Eval</a:t>
            </a:r>
            <a:r>
              <a:rPr lang="en-US" dirty="0"/>
              <a:t> gives the final "Thumbs Up" to the best move.</a:t>
            </a:r>
          </a:p>
          <a:p>
            <a:r>
              <a:rPr lang="en-US" b="1" dirty="0"/>
              <a:t>The Result:</a:t>
            </a:r>
            <a:r>
              <a:rPr lang="en-US" dirty="0"/>
              <a:t> An AI that thinks like a human, but calculates like a god.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07538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</TotalTime>
  <Words>641</Words>
  <Application>Microsoft Macintosh PowerPoint</Application>
  <PresentationFormat>Widescreen</PresentationFormat>
  <Paragraphs>47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# The Brain of a Gomoku Gargoyles   The Brain of the  Gomoku Gargoyles  </vt:lpstr>
      <vt:lpstr>The Challenge of the 19x19 Grid</vt:lpstr>
      <vt:lpstr>PowerPoint Presentation</vt:lpstr>
      <vt:lpstr>Minimax &amp; Alpha-Beta</vt:lpstr>
      <vt:lpstr>Pattern-Based Evaluation</vt:lpstr>
      <vt:lpstr>Threat Space Search (TSS)</vt:lpstr>
      <vt:lpstr>Selective Minimax</vt:lpstr>
      <vt:lpstr>The Grand Finale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Alcantara (Student)</dc:creator>
  <cp:lastModifiedBy>Juan Alcantara (Student)</cp:lastModifiedBy>
  <cp:revision>2</cp:revision>
  <dcterms:created xsi:type="dcterms:W3CDTF">2026-03-28T19:44:44Z</dcterms:created>
  <dcterms:modified xsi:type="dcterms:W3CDTF">2026-03-28T20:43:23Z</dcterms:modified>
</cp:coreProperties>
</file>